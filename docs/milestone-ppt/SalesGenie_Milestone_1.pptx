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951e2fd-2933-57d5-d641-34b3c8bb5fc9}">
          <p14:sldIdLst>
            <p14:sldId id="256"/>
          </p14:sldIdLst>
        </p14:section>
        <p14:section name="Overview" id="{d789222f-ca6f-d23c-b306-916c7f304370}">
          <p14:sldIdLst>
            <p14:sldId id="257"/>
            <p14:sldId id="258"/>
          </p14:sldIdLst>
        </p14:section>
        <p14:section name="Design" id="{4096cd2f-237f-ca08-9c28-1d420c03e597}">
          <p14:sldIdLst>
            <p14:sldId id="259"/>
            <p14:sldId id="260"/>
            <p14:sldId id="261"/>
          </p14:sldIdLst>
        </p14:section>
        <p14:section name="Implementation" id="{aa85b063-79a7-a21c-13e8-d61cb241f5d9}">
          <p14:sldIdLst>
            <p14:sldId id="262"/>
            <p14:sldId id="263"/>
          </p14:sldIdLst>
        </p14:section>
        <p14:section name="Validation" id="{53a811f5-f897-b624-a8ad-333ffee393b4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Milestone 1 covers SRS Module 1 (Lead Management) and Module 2 (Lead Intelligence).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18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SalesGenie AI Platform  |  Milestone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circle large"/>
          <p:cNvSpPr/>
          <p:nvPr/>
        </p:nvSpPr>
        <p:spPr>
          <a:xfrm>
            <a:off x="6309360" y="-1097280"/>
            <a:ext cx="4206240" cy="4206240"/>
          </a:xfrm>
          <a:prstGeom prst="ellipse">
            <a:avLst/>
          </a:prstGeom>
          <a:solidFill>
            <a:schemeClr val="accent1">
              <a:alpha val="4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Decor circle small"/>
          <p:cNvSpPr/>
          <p:nvPr/>
        </p:nvSpPr>
        <p:spPr>
          <a:xfrm>
            <a:off x="7223760" y="2377440"/>
            <a:ext cx="3108960" cy="310896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Eyebrow"/>
          <p:cNvSpPr txBox="1"/>
          <p:nvPr/>
        </p:nvSpPr>
        <p:spPr>
          <a:xfrm>
            <a:off x="64008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6"/>
                </a:solidFill>
              </a:rPr>
              <a:t>SalesGenie AI Platform</a:t>
            </a:r>
            <a:endParaRPr lang="en-US" sz="1600" dirty="0"/>
          </a:p>
        </p:txBody>
      </p:sp>
      <p:sp>
        <p:nvSpPr>
          <p:cNvPr id="5" name="Title"/>
          <p:cNvSpPr txBox="1"/>
          <p:nvPr/>
        </p:nvSpPr>
        <p:spPr>
          <a:xfrm>
            <a:off x="640080" y="15544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1</a:t>
            </a:r>
            <a:endParaRPr lang="en-US" sz="5400" dirty="0"/>
          </a:p>
        </p:txBody>
      </p:sp>
      <p:sp>
        <p:nvSpPr>
          <p:cNvPr id="6" name="Subtitle"/>
          <p:cNvSpPr txBox="1"/>
          <p:nvPr/>
        </p:nvSpPr>
        <p:spPr>
          <a:xfrm>
            <a:off x="640080" y="2514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Lead Management and Lead Intelligence Engine</a:t>
            </a:r>
            <a:endParaRPr lang="en-US" sz="2200" dirty="0"/>
          </a:p>
        </p:txBody>
      </p:sp>
      <p:sp>
        <p:nvSpPr>
          <p:cNvPr id="7" name="Stack line"/>
          <p:cNvSpPr txBox="1"/>
          <p:nvPr/>
        </p:nvSpPr>
        <p:spPr>
          <a:xfrm>
            <a:off x="640080" y="3200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SRS Modules 1 and 2   |   FastAPI  ·  Streamlit  ·  PostgreSQL  ·  LangGraph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1 at a glance</a:t>
            </a:r>
            <a:endParaRPr lang="en-US" sz="3000" dirty="0"/>
          </a:p>
        </p:txBody>
      </p:sp>
      <p:sp>
        <p:nvSpPr>
          <p:cNvPr id="3" name="Stat card 1"/>
          <p:cNvSpPr/>
          <p:nvPr/>
        </p:nvSpPr>
        <p:spPr>
          <a:xfrm>
            <a:off x="457200" y="114300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 value 1"/>
          <p:cNvSpPr txBox="1"/>
          <p:nvPr/>
        </p:nvSpPr>
        <p:spPr>
          <a:xfrm>
            <a:off x="457200" y="12344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800" dirty="0"/>
          </a:p>
        </p:txBody>
      </p:sp>
      <p:sp>
        <p:nvSpPr>
          <p:cNvPr id="5" name="Stat label 1"/>
          <p:cNvSpPr txBox="1"/>
          <p:nvPr/>
        </p:nvSpPr>
        <p:spPr>
          <a:xfrm>
            <a:off x="457200" y="1965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API endpoints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2560320" y="114300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at value 2"/>
          <p:cNvSpPr txBox="1"/>
          <p:nvPr/>
        </p:nvSpPr>
        <p:spPr>
          <a:xfrm>
            <a:off x="2560320" y="12344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" dirty="0"/>
          </a:p>
        </p:txBody>
      </p:sp>
      <p:sp>
        <p:nvSpPr>
          <p:cNvPr id="8" name="Stat label 2"/>
          <p:cNvSpPr txBox="1"/>
          <p:nvPr/>
        </p:nvSpPr>
        <p:spPr>
          <a:xfrm>
            <a:off x="2560320" y="1965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 agents</a:t>
            </a:r>
            <a:endParaRPr lang="en-US" sz="1400" dirty="0"/>
          </a:p>
        </p:txBody>
      </p:sp>
      <p:sp>
        <p:nvSpPr>
          <p:cNvPr id="9" name="Stat card 3"/>
          <p:cNvSpPr/>
          <p:nvPr/>
        </p:nvSpPr>
        <p:spPr>
          <a:xfrm>
            <a:off x="4663440" y="114300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 value 3"/>
          <p:cNvSpPr txBox="1"/>
          <p:nvPr/>
        </p:nvSpPr>
        <p:spPr>
          <a:xfrm>
            <a:off x="4663440" y="12344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 s</a:t>
            </a:r>
            <a:endParaRPr lang="en-US" sz="3800" dirty="0"/>
          </a:p>
        </p:txBody>
      </p:sp>
      <p:sp>
        <p:nvSpPr>
          <p:cNvPr id="11" name="Stat label 3"/>
          <p:cNvSpPr txBox="1"/>
          <p:nvPr/>
        </p:nvSpPr>
        <p:spPr>
          <a:xfrm>
            <a:off x="4663440" y="1965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analysis per lead</a:t>
            </a:r>
            <a:endParaRPr lang="en-US" sz="1400" dirty="0"/>
          </a:p>
        </p:txBody>
      </p:sp>
      <p:sp>
        <p:nvSpPr>
          <p:cNvPr id="12" name="Stat card 4"/>
          <p:cNvSpPr/>
          <p:nvPr/>
        </p:nvSpPr>
        <p:spPr>
          <a:xfrm>
            <a:off x="6766560" y="114300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at value 4"/>
          <p:cNvSpPr txBox="1"/>
          <p:nvPr/>
        </p:nvSpPr>
        <p:spPr>
          <a:xfrm>
            <a:off x="6766560" y="12344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/ 24</a:t>
            </a:r>
            <a:endParaRPr lang="en-US" sz="3800" dirty="0"/>
          </a:p>
        </p:txBody>
      </p:sp>
      <p:sp>
        <p:nvSpPr>
          <p:cNvPr id="14" name="Stat label 4"/>
          <p:cNvSpPr txBox="1"/>
          <p:nvPr/>
        </p:nvSpPr>
        <p:spPr>
          <a:xfrm>
            <a:off x="6766560" y="1965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tests passing</a:t>
            </a:r>
            <a:endParaRPr lang="en-US" sz="1400" dirty="0"/>
          </a:p>
        </p:txBody>
      </p:sp>
      <p:sp>
        <p:nvSpPr>
          <p:cNvPr id="15" name="Module card 1"/>
          <p:cNvSpPr/>
          <p:nvPr/>
        </p:nvSpPr>
        <p:spPr>
          <a:xfrm>
            <a:off x="457200" y="2743200"/>
            <a:ext cx="4023360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Module card outline 1"/>
          <p:cNvSpPr/>
          <p:nvPr/>
        </p:nvSpPr>
        <p:spPr>
          <a:xfrm>
            <a:off x="457200" y="2743200"/>
            <a:ext cx="4023360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7" name="Module icon 1 circle"/>
          <p:cNvSpPr/>
          <p:nvPr/>
        </p:nvSpPr>
        <p:spPr>
          <a:xfrm>
            <a:off x="685800" y="2926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Module icon 1" descr="Module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3056839"/>
            <a:ext cx="241402" cy="241402"/>
          </a:xfrm>
          <a:prstGeom prst="rect">
            <a:avLst/>
          </a:prstGeom>
        </p:spPr>
      </p:pic>
      <p:sp>
        <p:nvSpPr>
          <p:cNvPr id="19" name="Module title 1"/>
          <p:cNvSpPr txBox="1"/>
          <p:nvPr/>
        </p:nvSpPr>
        <p:spPr>
          <a:xfrm>
            <a:off x="1325880" y="2926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Module 1: Lead Management</a:t>
            </a:r>
            <a:endParaRPr lang="en-US" sz="1700" dirty="0"/>
          </a:p>
        </p:txBody>
      </p:sp>
      <p:sp>
        <p:nvSpPr>
          <p:cNvPr id="20" name="Module list 1"/>
          <p:cNvSpPr txBox="1"/>
          <p:nvPr/>
        </p:nvSpPr>
        <p:spPr>
          <a:xfrm>
            <a:off x="731520" y="356616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Create and bulk-import leads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Search, update and delete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Duplicate protection and validation</a:t>
            </a:r>
            <a:endParaRPr lang="en-US" sz="1400" dirty="0"/>
          </a:p>
        </p:txBody>
      </p:sp>
      <p:sp>
        <p:nvSpPr>
          <p:cNvPr id="21" name="Module card 2"/>
          <p:cNvSpPr/>
          <p:nvPr/>
        </p:nvSpPr>
        <p:spPr>
          <a:xfrm>
            <a:off x="4663440" y="2743200"/>
            <a:ext cx="4023360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Module card outline 2"/>
          <p:cNvSpPr/>
          <p:nvPr/>
        </p:nvSpPr>
        <p:spPr>
          <a:xfrm>
            <a:off x="4663440" y="2743200"/>
            <a:ext cx="4023360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3" name="Module icon 2 circle"/>
          <p:cNvSpPr/>
          <p:nvPr/>
        </p:nvSpPr>
        <p:spPr>
          <a:xfrm>
            <a:off x="4892040" y="2926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4" name="Module icon 2" descr="Module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799" y="3056839"/>
            <a:ext cx="241402" cy="241402"/>
          </a:xfrm>
          <a:prstGeom prst="rect">
            <a:avLst/>
          </a:prstGeom>
        </p:spPr>
      </p:pic>
      <p:sp>
        <p:nvSpPr>
          <p:cNvPr id="25" name="Module title 2"/>
          <p:cNvSpPr txBox="1"/>
          <p:nvPr/>
        </p:nvSpPr>
        <p:spPr>
          <a:xfrm>
            <a:off x="5532120" y="2926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Module 2: Lead Intelligence</a:t>
            </a:r>
            <a:endParaRPr lang="en-US" sz="1700" dirty="0"/>
          </a:p>
        </p:txBody>
      </p:sp>
      <p:sp>
        <p:nvSpPr>
          <p:cNvPr id="26" name="Module list 2"/>
          <p:cNvSpPr txBox="1"/>
          <p:nvPr/>
        </p:nvSpPr>
        <p:spPr>
          <a:xfrm>
            <a:off x="4937760" y="356616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Company profiling and opportunities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Qualification score, 0 to 100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Personas and auto-promotion to Qualified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work and delivery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457200" y="1170432"/>
            <a:ext cx="3429000" cy="420624"/>
          </a:xfrm>
          <a:prstGeom prst="rect">
            <a:avLst/>
          </a:prstGeom>
          <a:solidFill>
            <a:srgbClr val="18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2004" bIns="2286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PLANNED 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86200" y="1170432"/>
            <a:ext cx="3794760" cy="420624"/>
          </a:xfrm>
          <a:prstGeom prst="rect">
            <a:avLst/>
          </a:prstGeom>
          <a:solidFill>
            <a:srgbClr val="18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2004" bIns="2286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REPOSITORY EVIDENCE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80960" y="1170432"/>
            <a:ext cx="1005840" cy="420624"/>
          </a:xfrm>
          <a:prstGeom prst="rect">
            <a:avLst/>
          </a:prstGeom>
          <a:solidFill>
            <a:srgbClr val="18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2004" bIns="22860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1623060"/>
            <a:ext cx="34290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32004" bIns="22860"/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73446"/>
                </a:solidFill>
                <a:latin typeface="Aptos"/>
              </a:defRPr>
            </a:pPr>
            <a:r>
              <a:t>Kickoff, requirements, architecture, DB review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86200" y="1623060"/>
            <a:ext cx="379476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32004" bIns="2286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C7F"/>
                </a:solidFill>
                <a:latin typeface="Aptos"/>
              </a:defRPr>
            </a:pPr>
            <a:r>
              <a:t>SRS, database design, agent design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0" y="1623060"/>
            <a:ext cx="1005840" cy="429768"/>
          </a:xfrm>
          <a:prstGeom prst="rect">
            <a:avLst/>
          </a:prstGeom>
          <a:solidFill>
            <a:srgbClr val="E5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2004" bIns="22860"/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247453"/>
                </a:solidFill>
                <a:latin typeface="Aptos"/>
              </a:defRPr>
            </a:pPr>
            <a:r>
              <a:t>DELIVERED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2052828"/>
            <a:ext cx="3429000" cy="429768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32004" bIns="22860"/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73446"/>
                </a:solidFill>
                <a:latin typeface="Aptos"/>
              </a:defRPr>
            </a:pPr>
            <a:r>
              <a:t>API contracts, tech stack, repository setup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86200" y="2052828"/>
            <a:ext cx="3794760" cy="429768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32004" bIns="2286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C7F"/>
                </a:solidFill>
                <a:latin typeface="Aptos"/>
              </a:defRPr>
            </a:pPr>
            <a:r>
              <a:t>API contract, SETUP.md, database setup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80960" y="2052828"/>
            <a:ext cx="1005840" cy="429768"/>
          </a:xfrm>
          <a:prstGeom prst="rect">
            <a:avLst/>
          </a:prstGeom>
          <a:solidFill>
            <a:srgbClr val="E5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2004" bIns="22860"/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247453"/>
                </a:solidFill>
                <a:latin typeface="Aptos"/>
              </a:defRPr>
            </a:pPr>
            <a:r>
              <a:t>DELIVERED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482596"/>
            <a:ext cx="34290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32004" bIns="22860"/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73446"/>
                </a:solidFill>
                <a:latin typeface="Aptos"/>
              </a:defRPr>
            </a:pPr>
            <a:r>
              <a:t>ER diagram, schema, migrations, agent architecture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86200" y="2482596"/>
            <a:ext cx="379476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32004" bIns="2286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C7F"/>
                </a:solidFill>
                <a:latin typeface="Aptos"/>
              </a:defRPr>
            </a:pPr>
            <a:r>
              <a:t>Data dictionary, Alembic initial migration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60" y="2482596"/>
            <a:ext cx="1005840" cy="429768"/>
          </a:xfrm>
          <a:prstGeom prst="rect">
            <a:avLst/>
          </a:prstGeom>
          <a:solidFill>
            <a:srgbClr val="E5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2004" bIns="22860"/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247453"/>
                </a:solidFill>
                <a:latin typeface="Aptos"/>
              </a:defRPr>
            </a:pPr>
            <a:r>
              <a:t>DELIVERED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2912364"/>
            <a:ext cx="3429000" cy="429768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32004" bIns="22860"/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73446"/>
                </a:solidFill>
                <a:latin typeface="Aptos"/>
              </a:defRPr>
            </a:pPr>
            <a:r>
              <a:t>Prospect CRUD APIs, company profile analysis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86200" y="2912364"/>
            <a:ext cx="3794760" cy="429768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32004" bIns="2286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C7F"/>
                </a:solidFill>
                <a:latin typeface="Aptos"/>
              </a:defRPr>
            </a:pPr>
            <a:r>
              <a:t>backend/main.py, lead and intelligence services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80960" y="2912364"/>
            <a:ext cx="1005840" cy="429768"/>
          </a:xfrm>
          <a:prstGeom prst="rect">
            <a:avLst/>
          </a:prstGeom>
          <a:solidFill>
            <a:srgbClr val="E5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2004" bIns="22860"/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247453"/>
                </a:solidFill>
                <a:latin typeface="Aptos"/>
              </a:defRPr>
            </a:pPr>
            <a:r>
              <a:t>DELIVERED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342132"/>
            <a:ext cx="34290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32004" bIns="22860"/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73446"/>
                </a:solidFill>
                <a:latin typeface="Aptos"/>
              </a:defRPr>
            </a:pPr>
            <a:r>
              <a:t>Lead import, Leads UI, qualification scoring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86200" y="3342132"/>
            <a:ext cx="379476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32004" bIns="2286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C7F"/>
                </a:solidFill>
                <a:latin typeface="Aptos"/>
              </a:defRPr>
            </a:pPr>
            <a:r>
              <a:t>Bulk import service, frontend, scoring routes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0" y="3342132"/>
            <a:ext cx="1005840" cy="429768"/>
          </a:xfrm>
          <a:prstGeom prst="rect">
            <a:avLst/>
          </a:prstGeom>
          <a:solidFill>
            <a:srgbClr val="E5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2004" bIns="22860"/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247453"/>
                </a:solidFill>
                <a:latin typeface="Aptos"/>
              </a:defRPr>
            </a:pPr>
            <a:r>
              <a:t>DELIVERED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3771900"/>
            <a:ext cx="3429000" cy="429768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32004" bIns="22860"/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73446"/>
                </a:solidFill>
                <a:latin typeface="Aptos"/>
              </a:defRPr>
            </a:pPr>
            <a:r>
              <a:t>Unit tests for import, CRUD and scoring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86200" y="3771900"/>
            <a:ext cx="3794760" cy="429768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32004" bIns="2286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C7F"/>
                </a:solidFill>
                <a:latin typeface="Aptos"/>
              </a:defRPr>
            </a:pPr>
            <a:r>
              <a:t>Lead and agent test suites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80960" y="3771900"/>
            <a:ext cx="1005840" cy="429768"/>
          </a:xfrm>
          <a:prstGeom prst="rect">
            <a:avLst/>
          </a:prstGeom>
          <a:solidFill>
            <a:srgbClr val="E5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2004" bIns="22860"/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247453"/>
                </a:solidFill>
                <a:latin typeface="Aptos"/>
              </a:defRPr>
            </a:pPr>
            <a:r>
              <a:t>DELIVERED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201668"/>
            <a:ext cx="34290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32004" bIns="22860"/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73446"/>
                </a:solidFill>
                <a:latin typeface="Aptos"/>
              </a:defRPr>
            </a:pPr>
            <a:r>
              <a:t>Intelligence UI integration, Milestone 1 report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86200" y="4201668"/>
            <a:ext cx="379476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32004" bIns="2286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C7F"/>
                </a:solidFill>
                <a:latin typeface="Aptos"/>
              </a:defRPr>
            </a:pPr>
            <a:r>
              <a:t>intelligence_view.py, test report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80960" y="4201668"/>
            <a:ext cx="1005840" cy="429768"/>
          </a:xfrm>
          <a:prstGeom prst="rect">
            <a:avLst/>
          </a:prstGeom>
          <a:solidFill>
            <a:srgbClr val="E5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2004" bIns="22860"/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247453"/>
                </a:solidFill>
                <a:latin typeface="Aptos"/>
              </a:defRPr>
            </a:pPr>
            <a:r>
              <a:t>DELIVERED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UI box"/>
          <p:cNvSpPr/>
          <p:nvPr/>
        </p:nvSpPr>
        <p:spPr>
          <a:xfrm>
            <a:off x="457200" y="2286000"/>
            <a:ext cx="173736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UI box text"/>
          <p:cNvSpPr txBox="1"/>
          <p:nvPr/>
        </p:nvSpPr>
        <p:spPr>
          <a:xfrm>
            <a:off x="457200" y="2286000"/>
            <a:ext cx="173736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Streamlit UI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Leads · Intelligence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Scoring</a:t>
            </a:r>
            <a:endParaRPr lang="en-US" sz="1500" dirty="0"/>
          </a:p>
        </p:txBody>
      </p:sp>
      <p:sp>
        <p:nvSpPr>
          <p:cNvPr id="5" name="API box"/>
          <p:cNvSpPr/>
          <p:nvPr/>
        </p:nvSpPr>
        <p:spPr>
          <a:xfrm>
            <a:off x="2743200" y="2286000"/>
            <a:ext cx="1737360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API box text"/>
          <p:cNvSpPr txBox="1"/>
          <p:nvPr/>
        </p:nvSpPr>
        <p:spPr>
          <a:xfrm>
            <a:off x="2743200" y="2286000"/>
            <a:ext cx="173736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FastAPI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Pydantic validation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backend/main.py</a:t>
            </a:r>
            <a:endParaRPr lang="en-US" sz="1500" dirty="0"/>
          </a:p>
        </p:txBody>
      </p:sp>
      <p:sp>
        <p:nvSpPr>
          <p:cNvPr id="7" name="Lead service box"/>
          <p:cNvSpPr/>
          <p:nvPr/>
        </p:nvSpPr>
        <p:spPr>
          <a:xfrm>
            <a:off x="5029200" y="1325880"/>
            <a:ext cx="17373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ad service box text"/>
          <p:cNvSpPr txBox="1"/>
          <p:nvPr/>
        </p:nvSpPr>
        <p:spPr>
          <a:xfrm>
            <a:off x="5029200" y="1325880"/>
            <a:ext cx="17373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Lead Service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Create · import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De-duplicate</a:t>
            </a:r>
            <a:endParaRPr lang="en-US" sz="1500" dirty="0"/>
          </a:p>
        </p:txBody>
      </p:sp>
      <p:sp>
        <p:nvSpPr>
          <p:cNvPr id="9" name="Intelligence service box"/>
          <p:cNvSpPr/>
          <p:nvPr/>
        </p:nvSpPr>
        <p:spPr>
          <a:xfrm>
            <a:off x="5029200" y="3383280"/>
            <a:ext cx="17373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ntelligence service box text"/>
          <p:cNvSpPr txBox="1"/>
          <p:nvPr/>
        </p:nvSpPr>
        <p:spPr>
          <a:xfrm>
            <a:off x="5029200" y="3383280"/>
            <a:ext cx="17373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Intelligence Service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Run graph · persist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Promote</a:t>
            </a:r>
            <a:endParaRPr lang="en-US" sz="1500" dirty="0"/>
          </a:p>
        </p:txBody>
      </p:sp>
      <p:sp>
        <p:nvSpPr>
          <p:cNvPr id="11" name="Database box"/>
          <p:cNvSpPr/>
          <p:nvPr/>
        </p:nvSpPr>
        <p:spPr>
          <a:xfrm>
            <a:off x="7223760" y="1325880"/>
            <a:ext cx="1463040" cy="1005840"/>
          </a:xfrm>
          <a:prstGeom prst="roundRect">
            <a:avLst>
              <a:gd name="adj" fmla="val 909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Database box text"/>
          <p:cNvSpPr txBox="1"/>
          <p:nvPr/>
        </p:nvSpPr>
        <p:spPr>
          <a:xfrm>
            <a:off x="7223760" y="1325880"/>
            <a:ext cx="14630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PostgreSQL 16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Alembic migrations</a:t>
            </a:r>
            <a:endParaRPr lang="en-US" sz="1500" dirty="0"/>
          </a:p>
        </p:txBody>
      </p:sp>
      <p:sp>
        <p:nvSpPr>
          <p:cNvPr id="13" name="LangGraph box"/>
          <p:cNvSpPr/>
          <p:nvPr/>
        </p:nvSpPr>
        <p:spPr>
          <a:xfrm>
            <a:off x="7223760" y="3383280"/>
            <a:ext cx="1463040" cy="1005840"/>
          </a:xfrm>
          <a:prstGeom prst="roundRect">
            <a:avLst>
              <a:gd name="adj" fmla="val 909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LangGraph box text"/>
          <p:cNvSpPr txBox="1"/>
          <p:nvPr/>
        </p:nvSpPr>
        <p:spPr>
          <a:xfrm>
            <a:off x="7223760" y="3383280"/>
            <a:ext cx="14630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LangGraph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Research → Qualify</a:t>
            </a:r>
            <a:endParaRPr lang="en-US" sz="1500" dirty="0"/>
          </a:p>
        </p:txBody>
      </p:sp>
      <p:sp>
        <p:nvSpPr>
          <p:cNvPr id="15" name="Arrow UI-API"/>
          <p:cNvSpPr/>
          <p:nvPr/>
        </p:nvSpPr>
        <p:spPr>
          <a:xfrm>
            <a:off x="2194560" y="2834640"/>
            <a:ext cx="54864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Arrow API-Lead"/>
          <p:cNvSpPr/>
          <p:nvPr/>
        </p:nvSpPr>
        <p:spPr>
          <a:xfrm flipV="1">
            <a:off x="4480560" y="1828800"/>
            <a:ext cx="548640" cy="82296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Arrow API-Intel"/>
          <p:cNvSpPr/>
          <p:nvPr/>
        </p:nvSpPr>
        <p:spPr>
          <a:xfrm>
            <a:off x="4480560" y="3017520"/>
            <a:ext cx="548640" cy="86868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Arrow Lead-DB"/>
          <p:cNvSpPr/>
          <p:nvPr/>
        </p:nvSpPr>
        <p:spPr>
          <a:xfrm>
            <a:off x="6766560" y="1828800"/>
            <a:ext cx="45720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Arrow Intel-Graph"/>
          <p:cNvSpPr/>
          <p:nvPr/>
        </p:nvSpPr>
        <p:spPr>
          <a:xfrm>
            <a:off x="6766560" y="3886200"/>
            <a:ext cx="45720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Arrow Intel-DB"/>
          <p:cNvSpPr/>
          <p:nvPr/>
        </p:nvSpPr>
        <p:spPr>
          <a:xfrm flipV="1">
            <a:off x="6309360" y="2331720"/>
            <a:ext cx="1280160" cy="105156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1" name="Architecture note"/>
          <p:cNvSpPr txBox="1"/>
          <p:nvPr/>
        </p:nvSpPr>
        <p:spPr>
          <a:xfrm>
            <a:off x="457200" y="38404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LLM providers (Gemini, OpenAI, Grok, Ollama) with a bounded timeout. Each agent falls back to a rule-based result on timeout or incomplete output.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lead moves through the system</a:t>
            </a:r>
            <a:endParaRPr lang="en-US" sz="3000" dirty="0"/>
          </a:p>
        </p:txBody>
      </p:sp>
      <p:sp>
        <p:nvSpPr>
          <p:cNvPr id="3" name="Step card 1"/>
          <p:cNvSpPr/>
          <p:nvPr/>
        </p:nvSpPr>
        <p:spPr>
          <a:xfrm>
            <a:off x="457200" y="1188720"/>
            <a:ext cx="1463040" cy="17373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number circle 1"/>
          <p:cNvSpPr/>
          <p:nvPr/>
        </p:nvSpPr>
        <p:spPr>
          <a:xfrm>
            <a:off x="96012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tep number 1"/>
          <p:cNvSpPr txBox="1"/>
          <p:nvPr/>
        </p:nvSpPr>
        <p:spPr>
          <a:xfrm>
            <a:off x="9601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tep title 1"/>
          <p:cNvSpPr txBox="1"/>
          <p:nvPr/>
        </p:nvSpPr>
        <p:spPr>
          <a:xfrm>
            <a:off x="457200" y="1874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Submit</a:t>
            </a:r>
            <a:endParaRPr lang="en-US" sz="1500" dirty="0"/>
          </a:p>
        </p:txBody>
      </p:sp>
      <p:sp>
        <p:nvSpPr>
          <p:cNvPr id="7" name="Step text 1"/>
          <p:cNvSpPr txBox="1"/>
          <p:nvPr/>
        </p:nvSpPr>
        <p:spPr>
          <a:xfrm>
            <a:off x="50292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POST /api/leads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or /bulk</a:t>
            </a:r>
            <a:endParaRPr lang="en-US" sz="1100" dirty="0"/>
          </a:p>
        </p:txBody>
      </p:sp>
      <p:sp>
        <p:nvSpPr>
          <p:cNvPr id="8" name="Step arrow 1"/>
          <p:cNvSpPr/>
          <p:nvPr/>
        </p:nvSpPr>
        <p:spPr>
          <a:xfrm>
            <a:off x="1920240" y="2057400"/>
            <a:ext cx="210312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Step card 2"/>
          <p:cNvSpPr/>
          <p:nvPr/>
        </p:nvSpPr>
        <p:spPr>
          <a:xfrm>
            <a:off x="2130552" y="1188720"/>
            <a:ext cx="1463040" cy="17373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ep number circle 2"/>
          <p:cNvSpPr/>
          <p:nvPr/>
        </p:nvSpPr>
        <p:spPr>
          <a:xfrm>
            <a:off x="2633472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tep number 2"/>
          <p:cNvSpPr txBox="1"/>
          <p:nvPr/>
        </p:nvSpPr>
        <p:spPr>
          <a:xfrm>
            <a:off x="2633472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tep title 2"/>
          <p:cNvSpPr txBox="1"/>
          <p:nvPr/>
        </p:nvSpPr>
        <p:spPr>
          <a:xfrm>
            <a:off x="2130552" y="1874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Validate</a:t>
            </a:r>
            <a:endParaRPr lang="en-US" sz="1500" dirty="0"/>
          </a:p>
        </p:txBody>
      </p:sp>
      <p:sp>
        <p:nvSpPr>
          <p:cNvPr id="13" name="Step text 2"/>
          <p:cNvSpPr txBox="1"/>
          <p:nvPr/>
        </p:nvSpPr>
        <p:spPr>
          <a:xfrm>
            <a:off x="2176272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Email, source,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status</a:t>
            </a:r>
            <a:endParaRPr lang="en-US" sz="1100" dirty="0"/>
          </a:p>
        </p:txBody>
      </p:sp>
      <p:sp>
        <p:nvSpPr>
          <p:cNvPr id="14" name="Step arrow 2"/>
          <p:cNvSpPr/>
          <p:nvPr/>
        </p:nvSpPr>
        <p:spPr>
          <a:xfrm>
            <a:off x="3593592" y="2057400"/>
            <a:ext cx="210312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Step card 3"/>
          <p:cNvSpPr/>
          <p:nvPr/>
        </p:nvSpPr>
        <p:spPr>
          <a:xfrm>
            <a:off x="3803904" y="1188720"/>
            <a:ext cx="1463040" cy="17373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ep number circle 3"/>
          <p:cNvSpPr/>
          <p:nvPr/>
        </p:nvSpPr>
        <p:spPr>
          <a:xfrm>
            <a:off x="4306824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Step number 3"/>
          <p:cNvSpPr txBox="1"/>
          <p:nvPr/>
        </p:nvSpPr>
        <p:spPr>
          <a:xfrm>
            <a:off x="4306824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Step title 3"/>
          <p:cNvSpPr txBox="1"/>
          <p:nvPr/>
        </p:nvSpPr>
        <p:spPr>
          <a:xfrm>
            <a:off x="3803904" y="1874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Save</a:t>
            </a:r>
            <a:endParaRPr lang="en-US" sz="1500" dirty="0"/>
          </a:p>
        </p:txBody>
      </p:sp>
      <p:sp>
        <p:nvSpPr>
          <p:cNvPr id="19" name="Step text 3"/>
          <p:cNvSpPr txBox="1"/>
          <p:nvPr/>
        </p:nvSpPr>
        <p:spPr>
          <a:xfrm>
            <a:off x="3849624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Case-insensitive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duplicate check</a:t>
            </a:r>
            <a:endParaRPr lang="en-US" sz="1100" dirty="0"/>
          </a:p>
        </p:txBody>
      </p:sp>
      <p:sp>
        <p:nvSpPr>
          <p:cNvPr id="20" name="Step arrow 3"/>
          <p:cNvSpPr/>
          <p:nvPr/>
        </p:nvSpPr>
        <p:spPr>
          <a:xfrm>
            <a:off x="5266944" y="2057400"/>
            <a:ext cx="210312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1" name="Step card 4"/>
          <p:cNvSpPr/>
          <p:nvPr/>
        </p:nvSpPr>
        <p:spPr>
          <a:xfrm>
            <a:off x="5477256" y="1188720"/>
            <a:ext cx="1463040" cy="17373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tep number circle 4"/>
          <p:cNvSpPr/>
          <p:nvPr/>
        </p:nvSpPr>
        <p:spPr>
          <a:xfrm>
            <a:off x="5980176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Step number 4"/>
          <p:cNvSpPr txBox="1"/>
          <p:nvPr/>
        </p:nvSpPr>
        <p:spPr>
          <a:xfrm>
            <a:off x="5980176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Step title 4"/>
          <p:cNvSpPr txBox="1"/>
          <p:nvPr/>
        </p:nvSpPr>
        <p:spPr>
          <a:xfrm>
            <a:off x="5477256" y="1874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Analyze</a:t>
            </a:r>
            <a:endParaRPr lang="en-US" sz="1500" dirty="0"/>
          </a:p>
        </p:txBody>
      </p:sp>
      <p:sp>
        <p:nvSpPr>
          <p:cNvPr id="25" name="Step text 4"/>
          <p:cNvSpPr txBox="1"/>
          <p:nvPr/>
        </p:nvSpPr>
        <p:spPr>
          <a:xfrm>
            <a:off x="5522976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Research 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qualification agents</a:t>
            </a:r>
            <a:endParaRPr lang="en-US" sz="1100" dirty="0"/>
          </a:p>
        </p:txBody>
      </p:sp>
      <p:sp>
        <p:nvSpPr>
          <p:cNvPr id="26" name="Step arrow 4"/>
          <p:cNvSpPr/>
          <p:nvPr/>
        </p:nvSpPr>
        <p:spPr>
          <a:xfrm>
            <a:off x="6940296" y="2057400"/>
            <a:ext cx="210312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7" name="Step card 5"/>
          <p:cNvSpPr/>
          <p:nvPr/>
        </p:nvSpPr>
        <p:spPr>
          <a:xfrm>
            <a:off x="7150608" y="1188720"/>
            <a:ext cx="1463040" cy="17373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tep number circle 5"/>
          <p:cNvSpPr/>
          <p:nvPr/>
        </p:nvSpPr>
        <p:spPr>
          <a:xfrm>
            <a:off x="7653528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Step number 5"/>
          <p:cNvSpPr txBox="1"/>
          <p:nvPr/>
        </p:nvSpPr>
        <p:spPr>
          <a:xfrm>
            <a:off x="765352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Step title 5"/>
          <p:cNvSpPr txBox="1"/>
          <p:nvPr/>
        </p:nvSpPr>
        <p:spPr>
          <a:xfrm>
            <a:off x="7150608" y="1874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Score</a:t>
            </a:r>
            <a:endParaRPr lang="en-US" sz="1500" dirty="0"/>
          </a:p>
        </p:txBody>
      </p:sp>
      <p:sp>
        <p:nvSpPr>
          <p:cNvPr id="31" name="Step text 5"/>
          <p:cNvSpPr txBox="1"/>
          <p:nvPr/>
        </p:nvSpPr>
        <p:spPr>
          <a:xfrm>
            <a:off x="7196328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Insight and score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persisted</a:t>
            </a:r>
            <a:endParaRPr lang="en-US" sz="1100" dirty="0"/>
          </a:p>
        </p:txBody>
      </p:sp>
      <p:sp>
        <p:nvSpPr>
          <p:cNvPr id="32" name="Lifecycle heading"/>
          <p:cNvSpPr txBox="1"/>
          <p:nvPr/>
        </p:nvSpPr>
        <p:spPr>
          <a:xfrm>
            <a:off x="45720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Lead status lifecycle</a:t>
            </a:r>
            <a:endParaRPr lang="en-US" sz="1600" dirty="0"/>
          </a:p>
        </p:txBody>
      </p:sp>
      <p:sp>
        <p:nvSpPr>
          <p:cNvPr id="33" name="Status pill 1"/>
          <p:cNvSpPr/>
          <p:nvPr/>
        </p:nvSpPr>
        <p:spPr>
          <a:xfrm>
            <a:off x="457200" y="3657600"/>
            <a:ext cx="1463040" cy="502920"/>
          </a:xfrm>
          <a:prstGeom prst="roundRect">
            <a:avLst>
              <a:gd name="adj" fmla="val 4909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4" name="Status text 1"/>
          <p:cNvSpPr txBox="1"/>
          <p:nvPr/>
        </p:nvSpPr>
        <p:spPr>
          <a:xfrm>
            <a:off x="457200" y="3657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New Leads</a:t>
            </a:r>
            <a:endParaRPr lang="en-US" sz="1400" dirty="0"/>
          </a:p>
        </p:txBody>
      </p:sp>
      <p:sp>
        <p:nvSpPr>
          <p:cNvPr id="35" name="Status arrow 1"/>
          <p:cNvSpPr/>
          <p:nvPr/>
        </p:nvSpPr>
        <p:spPr>
          <a:xfrm>
            <a:off x="1920240" y="3904488"/>
            <a:ext cx="210312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6" name="Status pill 2"/>
          <p:cNvSpPr/>
          <p:nvPr/>
        </p:nvSpPr>
        <p:spPr>
          <a:xfrm>
            <a:off x="2130552" y="3657600"/>
            <a:ext cx="1463040" cy="502920"/>
          </a:xfrm>
          <a:prstGeom prst="roundRect">
            <a:avLst>
              <a:gd name="adj" fmla="val 4909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7" name="Status text 2"/>
          <p:cNvSpPr txBox="1"/>
          <p:nvPr/>
        </p:nvSpPr>
        <p:spPr>
          <a:xfrm>
            <a:off x="2130552" y="3657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Qualified</a:t>
            </a:r>
            <a:endParaRPr lang="en-US" sz="1400" dirty="0"/>
          </a:p>
        </p:txBody>
      </p:sp>
      <p:sp>
        <p:nvSpPr>
          <p:cNvPr id="38" name="Status arrow 2"/>
          <p:cNvSpPr/>
          <p:nvPr/>
        </p:nvSpPr>
        <p:spPr>
          <a:xfrm>
            <a:off x="3593592" y="3904488"/>
            <a:ext cx="210312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9" name="Status pill 3"/>
          <p:cNvSpPr/>
          <p:nvPr/>
        </p:nvSpPr>
        <p:spPr>
          <a:xfrm>
            <a:off x="3803904" y="3657600"/>
            <a:ext cx="1463040" cy="502920"/>
          </a:xfrm>
          <a:prstGeom prst="roundRect">
            <a:avLst>
              <a:gd name="adj" fmla="val 4909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0" name="Status text 3"/>
          <p:cNvSpPr txBox="1"/>
          <p:nvPr/>
        </p:nvSpPr>
        <p:spPr>
          <a:xfrm>
            <a:off x="3803904" y="3657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Proposal</a:t>
            </a:r>
            <a:endParaRPr lang="en-US" sz="1400" dirty="0"/>
          </a:p>
        </p:txBody>
      </p:sp>
      <p:sp>
        <p:nvSpPr>
          <p:cNvPr id="41" name="Status arrow 3"/>
          <p:cNvSpPr/>
          <p:nvPr/>
        </p:nvSpPr>
        <p:spPr>
          <a:xfrm>
            <a:off x="5266944" y="3904488"/>
            <a:ext cx="210312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2" name="Status pill 4"/>
          <p:cNvSpPr/>
          <p:nvPr/>
        </p:nvSpPr>
        <p:spPr>
          <a:xfrm>
            <a:off x="5477256" y="3657600"/>
            <a:ext cx="1463040" cy="502920"/>
          </a:xfrm>
          <a:prstGeom prst="roundRect">
            <a:avLst>
              <a:gd name="adj" fmla="val 4909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3" name="Status text 4"/>
          <p:cNvSpPr txBox="1"/>
          <p:nvPr/>
        </p:nvSpPr>
        <p:spPr>
          <a:xfrm>
            <a:off x="5477256" y="3657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Negotiation</a:t>
            </a:r>
            <a:endParaRPr lang="en-US" sz="1400" dirty="0"/>
          </a:p>
        </p:txBody>
      </p:sp>
      <p:sp>
        <p:nvSpPr>
          <p:cNvPr id="44" name="Status arrow 4"/>
          <p:cNvSpPr/>
          <p:nvPr/>
        </p:nvSpPr>
        <p:spPr>
          <a:xfrm>
            <a:off x="6940296" y="3904488"/>
            <a:ext cx="210312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5" name="Status pill 5"/>
          <p:cNvSpPr/>
          <p:nvPr/>
        </p:nvSpPr>
        <p:spPr>
          <a:xfrm>
            <a:off x="7150608" y="3657600"/>
            <a:ext cx="1463040" cy="502920"/>
          </a:xfrm>
          <a:prstGeom prst="roundRect">
            <a:avLst>
              <a:gd name="adj" fmla="val 4909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6" name="Status text 5"/>
          <p:cNvSpPr txBox="1"/>
          <p:nvPr/>
        </p:nvSpPr>
        <p:spPr>
          <a:xfrm>
            <a:off x="7150608" y="3657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Closed Won</a:t>
            </a:r>
            <a:endParaRPr lang="en-US" sz="1400" dirty="0"/>
          </a:p>
        </p:txBody>
      </p:sp>
      <p:sp>
        <p:nvSpPr>
          <p:cNvPr id="47" name="Lifecycle note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Score of 70 or more promotes New Leads to Qualified automatically. Later stages are set by updating the lead.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000" dirty="0"/>
          </a:p>
        </p:txBody>
      </p:sp>
      <p:pic>
        <p:nvPicPr>
          <p:cNvPr id="3" name="ER diagram" descr="ER diagram: users own leads; leads have company_insights, lead_scores and lead_analysis_ru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577840" cy="3161081"/>
          </a:xfrm>
          <a:prstGeom prst="rect">
            <a:avLst/>
          </a:prstGeom>
        </p:spPr>
      </p:pic>
      <p:sp>
        <p:nvSpPr>
          <p:cNvPr id="4" name="Note card 1"/>
          <p:cNvSpPr/>
          <p:nvPr/>
        </p:nvSpPr>
        <p:spPr>
          <a:xfrm>
            <a:off x="6172200" y="1143000"/>
            <a:ext cx="25146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ote icon 1 circle"/>
          <p:cNvSpPr/>
          <p:nvPr/>
        </p:nvSpPr>
        <p:spPr>
          <a:xfrm>
            <a:off x="6291072" y="13898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Note icon 1" descr="Note icon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944" y="1508760"/>
            <a:ext cx="219456" cy="219456"/>
          </a:xfrm>
          <a:prstGeom prst="rect">
            <a:avLst/>
          </a:prstGeom>
        </p:spPr>
      </p:pic>
      <p:sp>
        <p:nvSpPr>
          <p:cNvPr id="7" name="Note text 1"/>
          <p:cNvSpPr txBox="1"/>
          <p:nvPr/>
        </p:nvSpPr>
        <p:spPr>
          <a:xfrm>
            <a:off x="6858000" y="11887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PostgreSQL 16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Schema managed by Alembic migrations</a:t>
            </a:r>
            <a:endParaRPr lang="en-US" sz="1300" dirty="0"/>
          </a:p>
        </p:txBody>
      </p:sp>
      <p:sp>
        <p:nvSpPr>
          <p:cNvPr id="8" name="Note card 2"/>
          <p:cNvSpPr/>
          <p:nvPr/>
        </p:nvSpPr>
        <p:spPr>
          <a:xfrm>
            <a:off x="6172200" y="2240280"/>
            <a:ext cx="25146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ote icon 2 circle"/>
          <p:cNvSpPr/>
          <p:nvPr/>
        </p:nvSpPr>
        <p:spPr>
          <a:xfrm>
            <a:off x="6291072" y="248716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Note icon 2" descr="Note icon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2606040"/>
            <a:ext cx="219456" cy="219456"/>
          </a:xfrm>
          <a:prstGeom prst="rect">
            <a:avLst/>
          </a:prstGeom>
        </p:spPr>
      </p:pic>
      <p:sp>
        <p:nvSpPr>
          <p:cNvPr id="11" name="Note text 2"/>
          <p:cNvSpPr txBox="1"/>
          <p:nvPr/>
        </p:nvSpPr>
        <p:spPr>
          <a:xfrm>
            <a:off x="6858000" y="2286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Constraints in the database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Unique email, CHECK on status, source and score ranges</a:t>
            </a:r>
            <a:endParaRPr lang="en-US" sz="1300" dirty="0"/>
          </a:p>
        </p:txBody>
      </p:sp>
      <p:sp>
        <p:nvSpPr>
          <p:cNvPr id="12" name="Note card 3"/>
          <p:cNvSpPr/>
          <p:nvPr/>
        </p:nvSpPr>
        <p:spPr>
          <a:xfrm>
            <a:off x="6172200" y="3337560"/>
            <a:ext cx="25146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ote icon 3 circle"/>
          <p:cNvSpPr/>
          <p:nvPr/>
        </p:nvSpPr>
        <p:spPr>
          <a:xfrm>
            <a:off x="6291072" y="35844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Note icon 3" descr="Note icon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703320"/>
            <a:ext cx="219456" cy="219456"/>
          </a:xfrm>
          <a:prstGeom prst="rect">
            <a:avLst/>
          </a:prstGeom>
        </p:spPr>
      </p:pic>
      <p:sp>
        <p:nvSpPr>
          <p:cNvPr id="15" name="Note text 3"/>
          <p:cNvSpPr txBox="1"/>
          <p:nvPr/>
        </p:nvSpPr>
        <p:spPr>
          <a:xfrm>
            <a:off x="6858000" y="33832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Cascade deletes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Removing a lead removes its insight and score rows</a:t>
            </a:r>
            <a:endParaRPr lang="en-US" sz="1300" dirty="0"/>
          </a:p>
        </p:txBody>
      </p:sp>
      <p:sp>
        <p:nvSpPr>
          <p:cNvPr id="16" name="ER caption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Live names from the migration and models. Intelligence tables hold the latest result per lead.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Intelligence Engine</a:t>
            </a:r>
            <a:endParaRPr lang="en-US" sz="3000" dirty="0"/>
          </a:p>
        </p:txBody>
      </p:sp>
      <p:sp>
        <p:nvSpPr>
          <p:cNvPr id="3" name="Pipeline input"/>
          <p:cNvSpPr/>
          <p:nvPr/>
        </p:nvSpPr>
        <p:spPr>
          <a:xfrm>
            <a:off x="457200" y="1234440"/>
            <a:ext cx="164592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Pipeline input text"/>
          <p:cNvSpPr txBox="1"/>
          <p:nvPr/>
        </p:nvSpPr>
        <p:spPr>
          <a:xfrm>
            <a:off x="457200" y="1234440"/>
            <a:ext cx="16459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Prospect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Stored lead or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ad-hoc payload</a:t>
            </a:r>
            <a:endParaRPr lang="en-US" sz="1500" dirty="0"/>
          </a:p>
        </p:txBody>
      </p:sp>
      <p:sp>
        <p:nvSpPr>
          <p:cNvPr id="5" name="Research agent"/>
          <p:cNvSpPr/>
          <p:nvPr/>
        </p:nvSpPr>
        <p:spPr>
          <a:xfrm>
            <a:off x="2606040" y="1234440"/>
            <a:ext cx="2011680" cy="1005840"/>
          </a:xfrm>
          <a:prstGeom prst="roundRect">
            <a:avLst>
              <a:gd name="adj" fmla="val 909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Research agent text"/>
          <p:cNvSpPr txBox="1"/>
          <p:nvPr/>
        </p:nvSpPr>
        <p:spPr>
          <a:xfrm>
            <a:off x="2606040" y="1234440"/>
            <a:ext cx="20116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Research Agent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Profile · tech stack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opportunities</a:t>
            </a:r>
            <a:endParaRPr lang="en-US" sz="1500" dirty="0"/>
          </a:p>
        </p:txBody>
      </p:sp>
      <p:sp>
        <p:nvSpPr>
          <p:cNvPr id="7" name="Qualification agent"/>
          <p:cNvSpPr/>
          <p:nvPr/>
        </p:nvSpPr>
        <p:spPr>
          <a:xfrm>
            <a:off x="5120640" y="1234440"/>
            <a:ext cx="2011680" cy="1005840"/>
          </a:xfrm>
          <a:prstGeom prst="roundRect">
            <a:avLst>
              <a:gd name="adj" fmla="val 909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Qualification agent text"/>
          <p:cNvSpPr txBox="1"/>
          <p:nvPr/>
        </p:nvSpPr>
        <p:spPr>
          <a:xfrm>
            <a:off x="5120640" y="1234440"/>
            <a:ext cx="20116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Qualification Agent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Score · personas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recommendation</a:t>
            </a:r>
            <a:endParaRPr lang="en-US" sz="1500" dirty="0"/>
          </a:p>
        </p:txBody>
      </p:sp>
      <p:sp>
        <p:nvSpPr>
          <p:cNvPr id="9" name="Persist box"/>
          <p:cNvSpPr/>
          <p:nvPr/>
        </p:nvSpPr>
        <p:spPr>
          <a:xfrm>
            <a:off x="7635240" y="1234440"/>
            <a:ext cx="1051560" cy="1005840"/>
          </a:xfrm>
          <a:prstGeom prst="roundRect">
            <a:avLst>
              <a:gd name="adj" fmla="val 909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Persist box text"/>
          <p:cNvSpPr txBox="1"/>
          <p:nvPr/>
        </p:nvSpPr>
        <p:spPr>
          <a:xfrm>
            <a:off x="7635240" y="1234440"/>
            <a:ext cx="10515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Persist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Insight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Score</a:t>
            </a:r>
            <a:endParaRPr lang="en-US" sz="1500" dirty="0"/>
          </a:p>
        </p:txBody>
      </p:sp>
      <p:sp>
        <p:nvSpPr>
          <p:cNvPr id="11" name="Pipe arrow 1"/>
          <p:cNvSpPr/>
          <p:nvPr/>
        </p:nvSpPr>
        <p:spPr>
          <a:xfrm>
            <a:off x="2103120" y="1737360"/>
            <a:ext cx="50292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Pipe arrow 2"/>
          <p:cNvSpPr/>
          <p:nvPr/>
        </p:nvSpPr>
        <p:spPr>
          <a:xfrm>
            <a:off x="4617720" y="1737360"/>
            <a:ext cx="50292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Pipe arrow 3"/>
          <p:cNvSpPr/>
          <p:nvPr/>
        </p:nvSpPr>
        <p:spPr>
          <a:xfrm>
            <a:off x="7132320" y="1737360"/>
            <a:ext cx="50292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Agent detail card 1"/>
          <p:cNvSpPr/>
          <p:nvPr/>
        </p:nvSpPr>
        <p:spPr>
          <a:xfrm>
            <a:off x="457200" y="256032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Agent detail title 1"/>
          <p:cNvSpPr txBox="1"/>
          <p:nvPr/>
        </p:nvSpPr>
        <p:spPr>
          <a:xfrm>
            <a:off x="685800" y="2651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Research Agent</a:t>
            </a:r>
            <a:endParaRPr lang="en-US" sz="1500" dirty="0"/>
          </a:p>
        </p:txBody>
      </p:sp>
      <p:sp>
        <p:nvSpPr>
          <p:cNvPr id="16" name="Agent detail list 1"/>
          <p:cNvSpPr txBox="1"/>
          <p:nvPr/>
        </p:nvSpPr>
        <p:spPr>
          <a:xfrm>
            <a:off x="685800" y="3017520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Industry and domain analysis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Tech stack by category: cloud, backend, frontend, data, DevOps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ERP, cloud, automation and digital transformation opportunities</a:t>
            </a:r>
            <a:endParaRPr lang="en-US" sz="1200" dirty="0"/>
          </a:p>
        </p:txBody>
      </p:sp>
      <p:sp>
        <p:nvSpPr>
          <p:cNvPr id="17" name="Agent detail card 2"/>
          <p:cNvSpPr/>
          <p:nvPr/>
        </p:nvSpPr>
        <p:spPr>
          <a:xfrm>
            <a:off x="4663440" y="256032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Agent detail title 2"/>
          <p:cNvSpPr txBox="1"/>
          <p:nvPr/>
        </p:nvSpPr>
        <p:spPr>
          <a:xfrm>
            <a:off x="4892040" y="2651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Qualification Agent</a:t>
            </a:r>
            <a:endParaRPr lang="en-US" sz="1500" dirty="0"/>
          </a:p>
        </p:txBody>
      </p:sp>
      <p:sp>
        <p:nvSpPr>
          <p:cNvPr id="19" name="Agent detail list 2"/>
          <p:cNvSpPr txBox="1"/>
          <p:nvPr/>
        </p:nvSpPr>
        <p:spPr>
          <a:xfrm>
            <a:off x="4892040" y="3017520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Qualification score from funding and budget signals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Tech alignment and buying-committee personas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Business needs and strategic recommendation</a:t>
            </a:r>
            <a:endParaRPr lang="en-US" sz="1200" dirty="0"/>
          </a:p>
        </p:txBody>
      </p:sp>
      <p:sp>
        <p:nvSpPr>
          <p:cNvPr id="20" name="Chip 1"/>
          <p:cNvSpPr/>
          <p:nvPr/>
        </p:nvSpPr>
        <p:spPr>
          <a:xfrm>
            <a:off x="457200" y="4297680"/>
            <a:ext cx="2651760" cy="384048"/>
          </a:xfrm>
          <a:prstGeom prst="roundRect">
            <a:avLst>
              <a:gd name="adj" fmla="val 47619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1" name="Chip text 1"/>
          <p:cNvSpPr txBox="1"/>
          <p:nvPr/>
        </p:nvSpPr>
        <p:spPr>
          <a:xfrm>
            <a:off x="457200" y="42976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Score ≥ 70  </a:t>
            </a:r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promotes to Qualified</a:t>
            </a:r>
            <a:endParaRPr lang="en-US" sz="1200" dirty="0"/>
          </a:p>
        </p:txBody>
      </p:sp>
      <p:sp>
        <p:nvSpPr>
          <p:cNvPr id="22" name="Chip 2"/>
          <p:cNvSpPr/>
          <p:nvPr/>
        </p:nvSpPr>
        <p:spPr>
          <a:xfrm>
            <a:off x="3264408" y="4297680"/>
            <a:ext cx="2651760" cy="384048"/>
          </a:xfrm>
          <a:prstGeom prst="roundRect">
            <a:avLst>
              <a:gd name="adj" fmla="val 47619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3" name="Chip text 2"/>
          <p:cNvSpPr txBox="1"/>
          <p:nvPr/>
        </p:nvSpPr>
        <p:spPr>
          <a:xfrm>
            <a:off x="3264408" y="42976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&lt; 5 s  </a:t>
            </a:r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end-to-end target</a:t>
            </a:r>
            <a:endParaRPr lang="en-US" sz="1200" dirty="0"/>
          </a:p>
        </p:txBody>
      </p:sp>
      <p:sp>
        <p:nvSpPr>
          <p:cNvPr id="24" name="Chip 3"/>
          <p:cNvSpPr/>
          <p:nvPr/>
        </p:nvSpPr>
        <p:spPr>
          <a:xfrm>
            <a:off x="6071616" y="4297680"/>
            <a:ext cx="2651760" cy="384048"/>
          </a:xfrm>
          <a:prstGeom prst="roundRect">
            <a:avLst>
              <a:gd name="adj" fmla="val 47619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5" name="Chip text 3"/>
          <p:cNvSpPr txBox="1"/>
          <p:nvPr/>
        </p:nvSpPr>
        <p:spPr>
          <a:xfrm>
            <a:off x="6071616" y="42976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Rule-based fallback  </a:t>
            </a:r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if the LLM times out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and lead CRUD</a:t>
            </a:r>
            <a:endParaRPr lang="en-US" sz="3000" dirty="0"/>
          </a:p>
        </p:txBody>
      </p:sp>
      <p:sp>
        <p:nvSpPr>
          <p:cNvPr id="3" name="CRUD card 1"/>
          <p:cNvSpPr/>
          <p:nvPr/>
        </p:nvSpPr>
        <p:spPr>
          <a:xfrm>
            <a:off x="457200" y="109728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RUD icon 1 circle"/>
          <p:cNvSpPr/>
          <p:nvPr/>
        </p:nvSpPr>
        <p:spPr>
          <a:xfrm>
            <a:off x="594360" y="1207008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CRUD icon 1" descr="CRUD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345" y="1313993"/>
            <a:ext cx="197510" cy="197510"/>
          </a:xfrm>
          <a:prstGeom prst="rect">
            <a:avLst/>
          </a:prstGeom>
        </p:spPr>
      </p:pic>
      <p:sp>
        <p:nvSpPr>
          <p:cNvPr id="6" name="CRUD title 1"/>
          <p:cNvSpPr txBox="1"/>
          <p:nvPr/>
        </p:nvSpPr>
        <p:spPr>
          <a:xfrm>
            <a:off x="1097280" y="120700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Create</a:t>
            </a:r>
            <a:endParaRPr lang="en-US" sz="1600" dirty="0"/>
          </a:p>
        </p:txBody>
      </p:sp>
      <p:sp>
        <p:nvSpPr>
          <p:cNvPr id="7" name="CRUD endpoints 1"/>
          <p:cNvSpPr txBox="1"/>
          <p:nvPr/>
        </p:nvSpPr>
        <p:spPr>
          <a:xfrm>
            <a:off x="594360" y="17373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/api/leads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/api/leads/bulk</a:t>
            </a:r>
            <a:endParaRPr lang="en-US" sz="1050" dirty="0"/>
          </a:p>
        </p:txBody>
      </p:sp>
      <p:sp>
        <p:nvSpPr>
          <p:cNvPr id="8" name="CRUD card 2"/>
          <p:cNvSpPr/>
          <p:nvPr/>
        </p:nvSpPr>
        <p:spPr>
          <a:xfrm>
            <a:off x="2560320" y="109728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RUD icon 2 circle"/>
          <p:cNvSpPr/>
          <p:nvPr/>
        </p:nvSpPr>
        <p:spPr>
          <a:xfrm>
            <a:off x="2697480" y="120700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CRUD icon 2" descr="CRUD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465" y="1313993"/>
            <a:ext cx="197510" cy="197510"/>
          </a:xfrm>
          <a:prstGeom prst="rect">
            <a:avLst/>
          </a:prstGeom>
        </p:spPr>
      </p:pic>
      <p:sp>
        <p:nvSpPr>
          <p:cNvPr id="11" name="CRUD title 2"/>
          <p:cNvSpPr txBox="1"/>
          <p:nvPr/>
        </p:nvSpPr>
        <p:spPr>
          <a:xfrm>
            <a:off x="3200400" y="120700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Read</a:t>
            </a:r>
            <a:endParaRPr lang="en-US" sz="1600" dirty="0"/>
          </a:p>
        </p:txBody>
      </p:sp>
      <p:sp>
        <p:nvSpPr>
          <p:cNvPr id="12" name="CRUD endpoints 2"/>
          <p:cNvSpPr txBox="1"/>
          <p:nvPr/>
        </p:nvSpPr>
        <p:spPr>
          <a:xfrm>
            <a:off x="2697480" y="17373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/api/leads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/api/leads/stats</a:t>
            </a:r>
            <a:endParaRPr lang="en-US" sz="1050" dirty="0"/>
          </a:p>
        </p:txBody>
      </p:sp>
      <p:sp>
        <p:nvSpPr>
          <p:cNvPr id="13" name="CRUD card 3"/>
          <p:cNvSpPr/>
          <p:nvPr/>
        </p:nvSpPr>
        <p:spPr>
          <a:xfrm>
            <a:off x="4663440" y="109728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RUD icon 3 circle"/>
          <p:cNvSpPr/>
          <p:nvPr/>
        </p:nvSpPr>
        <p:spPr>
          <a:xfrm>
            <a:off x="4800600" y="1207008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CRUD icon 3" descr="CRUD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585" y="1313993"/>
            <a:ext cx="197510" cy="197510"/>
          </a:xfrm>
          <a:prstGeom prst="rect">
            <a:avLst/>
          </a:prstGeom>
        </p:spPr>
      </p:pic>
      <p:sp>
        <p:nvSpPr>
          <p:cNvPr id="16" name="CRUD title 3"/>
          <p:cNvSpPr txBox="1"/>
          <p:nvPr/>
        </p:nvSpPr>
        <p:spPr>
          <a:xfrm>
            <a:off x="5303520" y="120700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Update</a:t>
            </a:r>
            <a:endParaRPr lang="en-US" sz="1600" dirty="0"/>
          </a:p>
        </p:txBody>
      </p:sp>
      <p:sp>
        <p:nvSpPr>
          <p:cNvPr id="17" name="CRUD endpoints 3"/>
          <p:cNvSpPr txBox="1"/>
          <p:nvPr/>
        </p:nvSpPr>
        <p:spPr>
          <a:xfrm>
            <a:off x="4800600" y="17373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/api/leads/{id}</a:t>
            </a:r>
            <a:endParaRPr lang="en-US" sz="1050" dirty="0"/>
          </a:p>
        </p:txBody>
      </p:sp>
      <p:sp>
        <p:nvSpPr>
          <p:cNvPr id="18" name="CRUD card 4"/>
          <p:cNvSpPr/>
          <p:nvPr/>
        </p:nvSpPr>
        <p:spPr>
          <a:xfrm>
            <a:off x="6766560" y="109728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RUD icon 4 circle"/>
          <p:cNvSpPr/>
          <p:nvPr/>
        </p:nvSpPr>
        <p:spPr>
          <a:xfrm>
            <a:off x="6903720" y="1207008"/>
            <a:ext cx="411480" cy="4114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0" name="CRUD icon 4" descr="CRUD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705" y="1313993"/>
            <a:ext cx="197510" cy="197510"/>
          </a:xfrm>
          <a:prstGeom prst="rect">
            <a:avLst/>
          </a:prstGeom>
        </p:spPr>
      </p:pic>
      <p:sp>
        <p:nvSpPr>
          <p:cNvPr id="21" name="CRUD title 4"/>
          <p:cNvSpPr txBox="1"/>
          <p:nvPr/>
        </p:nvSpPr>
        <p:spPr>
          <a:xfrm>
            <a:off x="7406640" y="120700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Delete</a:t>
            </a:r>
            <a:endParaRPr lang="en-US" sz="1600" dirty="0"/>
          </a:p>
        </p:txBody>
      </p:sp>
      <p:sp>
        <p:nvSpPr>
          <p:cNvPr id="22" name="CRUD endpoints 4"/>
          <p:cNvSpPr txBox="1"/>
          <p:nvPr/>
        </p:nvSpPr>
        <p:spPr>
          <a:xfrm>
            <a:off x="6903720" y="17373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/api/leads/{id}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204</a:t>
            </a:r>
            <a:endParaRPr lang="en-US" sz="1050" dirty="0"/>
          </a:p>
        </p:txBody>
      </p:sp>
      <p:sp>
        <p:nvSpPr>
          <p:cNvPr id="23" name="Group card 1"/>
          <p:cNvSpPr/>
          <p:nvPr/>
        </p:nvSpPr>
        <p:spPr>
          <a:xfrm>
            <a:off x="457200" y="2743200"/>
            <a:ext cx="3291840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Group outline 1"/>
          <p:cNvSpPr/>
          <p:nvPr/>
        </p:nvSpPr>
        <p:spPr>
          <a:xfrm>
            <a:off x="457200" y="2743200"/>
            <a:ext cx="3291840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5" name="Group title 1"/>
          <p:cNvSpPr txBox="1"/>
          <p:nvPr/>
        </p:nvSpPr>
        <p:spPr>
          <a:xfrm>
            <a:off x="640080" y="28163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Lead Intelligence</a:t>
            </a:r>
            <a:endParaRPr lang="en-US" sz="1400" dirty="0"/>
          </a:p>
        </p:txBody>
      </p:sp>
      <p:sp>
        <p:nvSpPr>
          <p:cNvPr id="26" name="Group list 1"/>
          <p:cNvSpPr txBox="1"/>
          <p:nvPr/>
        </p:nvSpPr>
        <p:spPr>
          <a:xfrm>
            <a:off x="640080" y="3182112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/api/leads/{id}/analyze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/api/leads/{id}/insights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/api/leads/batch-analyze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/api/intelligence/analyze-prospect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/api/intelligence/architecture</a:t>
            </a:r>
            <a:endParaRPr lang="en-US" sz="1000" dirty="0"/>
          </a:p>
        </p:txBody>
      </p:sp>
      <p:sp>
        <p:nvSpPr>
          <p:cNvPr id="27" name="Group card 2"/>
          <p:cNvSpPr/>
          <p:nvPr/>
        </p:nvSpPr>
        <p:spPr>
          <a:xfrm>
            <a:off x="3977640" y="2743200"/>
            <a:ext cx="2423160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8" name="Group outline 2"/>
          <p:cNvSpPr/>
          <p:nvPr/>
        </p:nvSpPr>
        <p:spPr>
          <a:xfrm>
            <a:off x="3977640" y="2743200"/>
            <a:ext cx="2423160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9" name="Group title 2"/>
          <p:cNvSpPr txBox="1"/>
          <p:nvPr/>
        </p:nvSpPr>
        <p:spPr>
          <a:xfrm>
            <a:off x="4160520" y="281635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Scoring</a:t>
            </a:r>
            <a:endParaRPr lang="en-US" sz="1400" dirty="0"/>
          </a:p>
        </p:txBody>
      </p:sp>
      <p:sp>
        <p:nvSpPr>
          <p:cNvPr id="30" name="Group list 2"/>
          <p:cNvSpPr txBox="1"/>
          <p:nvPr/>
        </p:nvSpPr>
        <p:spPr>
          <a:xfrm>
            <a:off x="4160520" y="3182112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/api/scoring/queue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/api/leads/{id}/dossier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/api/leads/{id}/score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/api/leads/score-batch</a:t>
            </a:r>
            <a:endParaRPr lang="en-US" sz="1000" dirty="0"/>
          </a:p>
        </p:txBody>
      </p:sp>
      <p:sp>
        <p:nvSpPr>
          <p:cNvPr id="31" name="Group card 3"/>
          <p:cNvSpPr/>
          <p:nvPr/>
        </p:nvSpPr>
        <p:spPr>
          <a:xfrm>
            <a:off x="6583680" y="2743200"/>
            <a:ext cx="2103120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2" name="Group outline 3"/>
          <p:cNvSpPr/>
          <p:nvPr/>
        </p:nvSpPr>
        <p:spPr>
          <a:xfrm>
            <a:off x="6583680" y="2743200"/>
            <a:ext cx="2103120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33" name="Group title 3"/>
          <p:cNvSpPr txBox="1"/>
          <p:nvPr/>
        </p:nvSpPr>
        <p:spPr>
          <a:xfrm>
            <a:off x="6766560" y="28163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System</a:t>
            </a:r>
            <a:endParaRPr lang="en-US" sz="1400" dirty="0"/>
          </a:p>
        </p:txBody>
      </p:sp>
      <p:sp>
        <p:nvSpPr>
          <p:cNvPr id="34" name="Group list 3"/>
          <p:cNvSpPr txBox="1"/>
          <p:nvPr/>
        </p:nvSpPr>
        <p:spPr>
          <a:xfrm>
            <a:off x="6766560" y="3182112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/health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/api/users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/api/llm/providers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validation</a:t>
            </a:r>
            <a:endParaRPr lang="en-US" sz="3000" dirty="0"/>
          </a:p>
        </p:txBody>
      </p:sp>
      <p:sp>
        <p:nvSpPr>
          <p:cNvPr id="3" name="Test result card"/>
          <p:cNvSpPr/>
          <p:nvPr/>
        </p:nvSpPr>
        <p:spPr>
          <a:xfrm>
            <a:off x="457200" y="1097280"/>
            <a:ext cx="237744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sts passed value"/>
          <p:cNvSpPr txBox="1"/>
          <p:nvPr/>
        </p:nvSpPr>
        <p:spPr>
          <a:xfrm>
            <a:off x="457200" y="11887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6600" dirty="0"/>
          </a:p>
        </p:txBody>
      </p:sp>
      <p:sp>
        <p:nvSpPr>
          <p:cNvPr id="5" name="Tests passed label"/>
          <p:cNvSpPr txBox="1"/>
          <p:nvPr/>
        </p:nvSpPr>
        <p:spPr>
          <a:xfrm>
            <a:off x="457200" y="2240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tests passed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full backend suite, 14.31 s</a:t>
            </a:r>
            <a:endParaRPr lang="en-US" sz="1400" dirty="0"/>
          </a:p>
        </p:txBody>
      </p:sp>
      <p:sp>
        <p:nvSpPr>
          <p:cNvPr id="6" name="Check row 1"/>
          <p:cNvSpPr/>
          <p:nvPr/>
        </p:nvSpPr>
        <p:spPr>
          <a:xfrm>
            <a:off x="3108960" y="1097280"/>
            <a:ext cx="557784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heck icon 1 circle"/>
          <p:cNvSpPr/>
          <p:nvPr/>
        </p:nvSpPr>
        <p:spPr>
          <a:xfrm>
            <a:off x="3200400" y="1161288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Check icon 1" descr="Check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1233" y="1242121"/>
            <a:ext cx="149230" cy="149230"/>
          </a:xfrm>
          <a:prstGeom prst="rect">
            <a:avLst/>
          </a:prstGeom>
        </p:spPr>
      </p:pic>
      <p:sp>
        <p:nvSpPr>
          <p:cNvPr id="9" name="Check label 1"/>
          <p:cNvSpPr txBox="1"/>
          <p:nvPr/>
        </p:nvSpPr>
        <p:spPr>
          <a:xfrm>
            <a:off x="3657600" y="109728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pytest, backend/tests</a:t>
            </a:r>
            <a:endParaRPr lang="en-US" sz="1400" dirty="0"/>
          </a:p>
        </p:txBody>
      </p:sp>
      <p:sp>
        <p:nvSpPr>
          <p:cNvPr id="10" name="Check result 1"/>
          <p:cNvSpPr txBox="1"/>
          <p:nvPr/>
        </p:nvSpPr>
        <p:spPr>
          <a:xfrm>
            <a:off x="7132320" y="10972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24 passed</a:t>
            </a:r>
            <a:endParaRPr lang="en-US" sz="1400" dirty="0"/>
          </a:p>
        </p:txBody>
      </p:sp>
      <p:sp>
        <p:nvSpPr>
          <p:cNvPr id="11" name="Check row 2"/>
          <p:cNvSpPr/>
          <p:nvPr/>
        </p:nvSpPr>
        <p:spPr>
          <a:xfrm>
            <a:off x="3108960" y="1609344"/>
            <a:ext cx="557784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heck icon 2 circle"/>
          <p:cNvSpPr/>
          <p:nvPr/>
        </p:nvSpPr>
        <p:spPr>
          <a:xfrm>
            <a:off x="3200400" y="1673352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Check icon 2" descr="Check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233" y="1754185"/>
            <a:ext cx="149230" cy="149230"/>
          </a:xfrm>
          <a:prstGeom prst="rect">
            <a:avLst/>
          </a:prstGeom>
        </p:spPr>
      </p:pic>
      <p:sp>
        <p:nvSpPr>
          <p:cNvPr id="14" name="Check label 2"/>
          <p:cNvSpPr txBox="1"/>
          <p:nvPr/>
        </p:nvSpPr>
        <p:spPr>
          <a:xfrm>
            <a:off x="3657600" y="160934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Lead and intelligence tests</a:t>
            </a:r>
            <a:endParaRPr lang="en-US" sz="1400" dirty="0"/>
          </a:p>
        </p:txBody>
      </p:sp>
      <p:sp>
        <p:nvSpPr>
          <p:cNvPr id="15" name="Check result 2"/>
          <p:cNvSpPr txBox="1"/>
          <p:nvPr/>
        </p:nvSpPr>
        <p:spPr>
          <a:xfrm>
            <a:off x="7132320" y="160934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13 passed</a:t>
            </a:r>
            <a:endParaRPr lang="en-US" sz="1400" dirty="0"/>
          </a:p>
        </p:txBody>
      </p:sp>
      <p:sp>
        <p:nvSpPr>
          <p:cNvPr id="16" name="Check row 3"/>
          <p:cNvSpPr/>
          <p:nvPr/>
        </p:nvSpPr>
        <p:spPr>
          <a:xfrm>
            <a:off x="3108960" y="2121408"/>
            <a:ext cx="557784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heck icon 3 circle"/>
          <p:cNvSpPr/>
          <p:nvPr/>
        </p:nvSpPr>
        <p:spPr>
          <a:xfrm>
            <a:off x="3200400" y="2185416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Check icon 3" descr="Check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1233" y="2266249"/>
            <a:ext cx="149230" cy="149230"/>
          </a:xfrm>
          <a:prstGeom prst="rect">
            <a:avLst/>
          </a:prstGeom>
        </p:spPr>
      </p:pic>
      <p:sp>
        <p:nvSpPr>
          <p:cNvPr id="19" name="Check label 3"/>
          <p:cNvSpPr txBox="1"/>
          <p:nvPr/>
        </p:nvSpPr>
        <p:spPr>
          <a:xfrm>
            <a:off x="3657600" y="212140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Syntax scan (compileall)</a:t>
            </a:r>
            <a:endParaRPr lang="en-US" sz="1400" dirty="0"/>
          </a:p>
        </p:txBody>
      </p:sp>
      <p:sp>
        <p:nvSpPr>
          <p:cNvPr id="20" name="Check result 3"/>
          <p:cNvSpPr txBox="1"/>
          <p:nvPr/>
        </p:nvSpPr>
        <p:spPr>
          <a:xfrm>
            <a:off x="7132320" y="212140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Passed</a:t>
            </a:r>
            <a:endParaRPr lang="en-US" sz="1400" dirty="0"/>
          </a:p>
        </p:txBody>
      </p:sp>
      <p:sp>
        <p:nvSpPr>
          <p:cNvPr id="21" name="Check row 4"/>
          <p:cNvSpPr/>
          <p:nvPr/>
        </p:nvSpPr>
        <p:spPr>
          <a:xfrm>
            <a:off x="3108960" y="2633472"/>
            <a:ext cx="557784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Check icon 4 circle"/>
          <p:cNvSpPr/>
          <p:nvPr/>
        </p:nvSpPr>
        <p:spPr>
          <a:xfrm>
            <a:off x="3200400" y="269748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Check icon 4" descr="Check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1233" y="2778313"/>
            <a:ext cx="149230" cy="149230"/>
          </a:xfrm>
          <a:prstGeom prst="rect">
            <a:avLst/>
          </a:prstGeom>
        </p:spPr>
      </p:pic>
      <p:sp>
        <p:nvSpPr>
          <p:cNvPr id="24" name="Check label 4"/>
          <p:cNvSpPr txBox="1"/>
          <p:nvPr/>
        </p:nvSpPr>
        <p:spPr>
          <a:xfrm>
            <a:off x="3657600" y="263347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FastAPI import and routes</a:t>
            </a:r>
            <a:endParaRPr lang="en-US" sz="1400" dirty="0"/>
          </a:p>
        </p:txBody>
      </p:sp>
      <p:sp>
        <p:nvSpPr>
          <p:cNvPr id="25" name="Check result 4"/>
          <p:cNvSpPr txBox="1"/>
          <p:nvPr/>
        </p:nvSpPr>
        <p:spPr>
          <a:xfrm>
            <a:off x="7132320" y="263347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Passed</a:t>
            </a:r>
            <a:endParaRPr lang="en-US" sz="1400" dirty="0"/>
          </a:p>
        </p:txBody>
      </p:sp>
      <p:sp>
        <p:nvSpPr>
          <p:cNvPr id="26" name="Coverage card 1"/>
          <p:cNvSpPr/>
          <p:nvPr/>
        </p:nvSpPr>
        <p:spPr>
          <a:xfrm>
            <a:off x="457200" y="333756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7" name="Coverage outline 1"/>
          <p:cNvSpPr/>
          <p:nvPr/>
        </p:nvSpPr>
        <p:spPr>
          <a:xfrm>
            <a:off x="457200" y="333756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8" name="Coverage text 1"/>
          <p:cNvSpPr txBox="1"/>
          <p:nvPr/>
        </p:nvSpPr>
        <p:spPr>
          <a:xfrm>
            <a:off x="640080" y="34290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Lead management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Create, duplicate rejection, update, delete, bulk import, validation</a:t>
            </a:r>
            <a:endParaRPr lang="en-US" sz="1400" dirty="0"/>
          </a:p>
        </p:txBody>
      </p:sp>
      <p:sp>
        <p:nvSpPr>
          <p:cNvPr id="29" name="Coverage card 2"/>
          <p:cNvSpPr/>
          <p:nvPr/>
        </p:nvSpPr>
        <p:spPr>
          <a:xfrm>
            <a:off x="3264408" y="333756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0" name="Coverage outline 2"/>
          <p:cNvSpPr/>
          <p:nvPr/>
        </p:nvSpPr>
        <p:spPr>
          <a:xfrm>
            <a:off x="3264408" y="333756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31" name="Coverage text 2"/>
          <p:cNvSpPr txBox="1"/>
          <p:nvPr/>
        </p:nvSpPr>
        <p:spPr>
          <a:xfrm>
            <a:off x="3447288" y="34290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Lead intelligence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Graph compilation, profiling, opportunities, scoring, under 5 s</a:t>
            </a:r>
            <a:endParaRPr lang="en-US" sz="1400" dirty="0"/>
          </a:p>
        </p:txBody>
      </p:sp>
      <p:sp>
        <p:nvSpPr>
          <p:cNvPr id="32" name="Coverage card 3"/>
          <p:cNvSpPr/>
          <p:nvPr/>
        </p:nvSpPr>
        <p:spPr>
          <a:xfrm>
            <a:off x="6071616" y="333756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3" name="Coverage outline 3"/>
          <p:cNvSpPr/>
          <p:nvPr/>
        </p:nvSpPr>
        <p:spPr>
          <a:xfrm>
            <a:off x="6071616" y="333756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34" name="Coverage text 3"/>
          <p:cNvSpPr txBox="1"/>
          <p:nvPr/>
        </p:nvSpPr>
        <p:spPr>
          <a:xfrm>
            <a:off x="6254496" y="34290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Fallback paths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Provider timeout and incomplete-output handling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circle"/>
          <p:cNvSpPr/>
          <p:nvPr/>
        </p:nvSpPr>
        <p:spPr>
          <a:xfrm>
            <a:off x="6766560" y="-1371600"/>
            <a:ext cx="3840480" cy="3840480"/>
          </a:xfrm>
          <a:prstGeom prst="ellipse">
            <a:avLst/>
          </a:prstGeom>
          <a:solidFill>
            <a:schemeClr val="accent1">
              <a:alpha val="40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3" name="Title"/>
          <p:cNvSpPr txBox="1"/>
          <p:nvPr/>
        </p:nvSpPr>
        <p:spPr>
          <a:xfrm>
            <a:off x="64008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1 delivered</a:t>
            </a:r>
            <a:endParaRPr lang="en-US" sz="3600" dirty="0"/>
          </a:p>
        </p:txBody>
      </p:sp>
      <p:sp>
        <p:nvSpPr>
          <p:cNvPr id="4" name="Delivered heading"/>
          <p:cNvSpPr txBox="1"/>
          <p:nvPr/>
        </p:nvSpPr>
        <p:spPr>
          <a:xfrm>
            <a:off x="64008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Delivered</a:t>
            </a:r>
            <a:endParaRPr lang="en-US" sz="1800" dirty="0"/>
          </a:p>
        </p:txBody>
      </p:sp>
      <p:sp>
        <p:nvSpPr>
          <p:cNvPr id="5" name="Delivered list"/>
          <p:cNvSpPr txBox="1"/>
          <p:nvPr/>
        </p:nvSpPr>
        <p:spPr>
          <a:xfrm>
            <a:off x="640080" y="2011680"/>
            <a:ext cx="8046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Lead create, bulk import, search, update and delete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Duplicate protection and request validation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Two-agent LangGraph analysis with scoring and personas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PostgreSQL schema through Alembic migrations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24 automated tests passing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lesGenie">
  <a:themeElements>
    <a:clrScheme name="SalesGenie">
      <a:dk1>
        <a:srgbClr val="1F2937"/>
      </a:dk1>
      <a:lt1>
        <a:srgbClr val="FFFFFF"/>
      </a:lt1>
      <a:dk2>
        <a:srgbClr val="14284B"/>
      </a:dk2>
      <a:lt2>
        <a:srgbClr val="EEF2F9"/>
      </a:lt2>
      <a:accent1>
        <a:srgbClr val="1F6F8B"/>
      </a:accent1>
      <a:accent2>
        <a:srgbClr val="B8860B"/>
      </a:accent2>
      <a:accent3>
        <a:srgbClr val="2E7D4F"/>
      </a:accent3>
      <a:accent4>
        <a:srgbClr val="14284B"/>
      </a:accent4>
      <a:accent5>
        <a:srgbClr val="6B7A90"/>
      </a:accent5>
      <a:accent6>
        <a:srgbClr val="D9E3F2"/>
      </a:accent6>
      <a:hlink>
        <a:srgbClr val="1F6F8B"/>
      </a:hlink>
      <a:folHlink>
        <a:srgbClr val="6B7A90"/>
      </a:folHlink>
    </a:clrScheme>
    <a:fontScheme name="SalesGeni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SalesGenie AI Platform - Milestone 1</dc:title>
  <dc:subject>PptxGenJS Presentation</dc:subject>
  <dc:creator>PptxGenJS</dc:creator>
  <cp:lastModifiedBy>PptxGenJS</cp:lastModifiedBy>
  <cp:revision>1</cp:revision>
  <dcterms:created xsi:type="dcterms:W3CDTF">2026-10-30T12:22:09Z</dcterms:created>
  <dcterms:modified xsi:type="dcterms:W3CDTF">2026-10-30T12:22:09Z</dcterms:modified>
</cp:coreProperties>
</file>